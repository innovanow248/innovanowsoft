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49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5FC9B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05840" cy="100584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478" y="16331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ADMINISTRACIÓN FINANCIERA GUBERNAMENTAL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41248" y="4069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5FC9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conducido por Inteligencia Artificial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41248" y="4846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conceptual · Mejores prácticas internacionales · Hoja de ruta del MVP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124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presentación — v1.0 · Junio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idea fuerza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empleado simplemente hable, y la complejidad la absorba el agente.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lado del Estado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empleado abre la pantalla de su etapa y dicta lo que necesita.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entiende la intención según sus permisos, genera los documentos, pide lo que falta y valida.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queda numerado, editable por voz y trazado para auditoría.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14884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82" y="23509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lado del ciudadano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sus obligaciones desde el teléfono, en un toque.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 recordatorios antes del vencimiento y planes de pago automáticos.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Interactúa con el sistema con la misma simplicidad que el empleado.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principios de diseño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13332" y="1536192"/>
            <a:ext cx="768096" cy="768096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37" y="1735897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23957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Simplicidad radical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94944" y="290779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pantalla, una etapa.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10712" y="1280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75404" y="1536192"/>
            <a:ext cx="768096" cy="768096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109" y="1735897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3957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natural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57016" y="290779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o texto como entrada primaria.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72784" y="1280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37476" y="1536192"/>
            <a:ext cx="768096" cy="768096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181" y="1735897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2512" y="23957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= intención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419088" y="290779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acota la acción posible.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134856" y="128016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099548" y="1536192"/>
            <a:ext cx="768096" cy="768096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253" y="1735897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44584" y="239572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Humano en lo irreversible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281160" y="290779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prepara; la persona decide.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370332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513332" y="3959352"/>
            <a:ext cx="768096" cy="768096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3037" y="4159057"/>
            <a:ext cx="368686" cy="36868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368" y="481888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por diseño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94944" y="533095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abiertos en todo el ciclo.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410712" y="370332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375404" y="3959352"/>
            <a:ext cx="768096" cy="768096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109" y="4159057"/>
            <a:ext cx="368686" cy="36868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20440" y="481888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 explicabilidad</a:t>
            </a:r>
            <a:endParaRPr lang="en-US" sz="1450" dirty="0"/>
          </a:p>
        </p:txBody>
      </p:sp>
      <p:sp>
        <p:nvSpPr>
          <p:cNvPr id="32" name="Text 24"/>
          <p:cNvSpPr/>
          <p:nvPr/>
        </p:nvSpPr>
        <p:spPr>
          <a:xfrm>
            <a:off x="3557016" y="533095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acción registrada y justificada.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272784" y="370332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237476" y="3959352"/>
            <a:ext cx="768096" cy="768096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7181" y="4159057"/>
            <a:ext cx="368686" cy="36868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82512" y="4818888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 incorporado</a:t>
            </a:r>
            <a:endParaRPr lang="en-US" sz="1450" dirty="0"/>
          </a:p>
        </p:txBody>
      </p:sp>
      <p:sp>
        <p:nvSpPr>
          <p:cNvPr id="37" name="Text 28"/>
          <p:cNvSpPr/>
          <p:nvPr/>
        </p:nvSpPr>
        <p:spPr>
          <a:xfrm>
            <a:off x="6419088" y="5330952"/>
            <a:ext cx="2404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contextual en cada pantalla.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federación de agentes especializados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Inspirado en la “Bot Federation” de la administración tributaria austríaca: agentes acotados que colaboran.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731520" cy="73152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08300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84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rubros y genera notas numeradas editables por voz.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6002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892808"/>
            <a:ext cx="731520" cy="731520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483" y="208300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984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08576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 presupuestos, gestiona subastas y cuadros comparativos.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6002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892808"/>
            <a:ext cx="731520" cy="73152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811" y="208300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1984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Devengado y Pago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5904" y="2788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 facturas, concilia e impacta el devengado.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453128"/>
            <a:ext cx="731520" cy="731520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" y="464332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544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Recaudación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41248" y="5349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Tasas, planes de pago, intimaciones y riesgo de evasión.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15968" y="4160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4453128"/>
            <a:ext cx="731520" cy="73152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0483" y="4643323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58968" y="4544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08576" y="5349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banderas rojas y verifica compliance.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83296" y="41605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453128"/>
            <a:ext cx="731520" cy="731520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7811" y="4643323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26296" y="45445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Tutor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75904" y="5349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 en contexto y detecta inconsistencias.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ciclo del gasto, etapa por etapa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C9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Mismo patrón en cada etapa: el usuario expresa intención · el agente completa y valida · el humano confirma lo irreversible.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783080" cy="2468880"/>
          </a:xfrm>
          <a:prstGeom prst="roundRect">
            <a:avLst>
              <a:gd name="adj" fmla="val 4615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8428" y="25420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38428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331012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767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“Necesito X y Z”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36292" y="3520440"/>
            <a:ext cx="100584" cy="0"/>
          </a:xfrm>
          <a:prstGeom prst="line">
            <a:avLst/>
          </a:prstGeom>
          <a:noFill/>
          <a:ln w="31750">
            <a:solidFill>
              <a:srgbClr val="5FC9B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41448" y="2286000"/>
            <a:ext cx="1783080" cy="2468880"/>
          </a:xfrm>
          <a:prstGeom prst="roundRect">
            <a:avLst>
              <a:gd name="adj" fmla="val 4615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31236" y="25420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031236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331012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32888" y="3767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Presupuestos · plazo 24 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29100" y="3520440"/>
            <a:ext cx="100584" cy="0"/>
          </a:xfrm>
          <a:prstGeom prst="line">
            <a:avLst/>
          </a:prstGeom>
          <a:noFill/>
          <a:ln w="31750">
            <a:solidFill>
              <a:srgbClr val="5FC9B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34256" y="2286000"/>
            <a:ext cx="1783080" cy="2468880"/>
          </a:xfrm>
          <a:prstGeom prst="roundRect">
            <a:avLst>
              <a:gd name="adj" fmla="val 4615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24044" y="25420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24044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07408" y="331012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Subasta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5696" y="3767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Opcional · cuadro comparativo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1908" y="3520440"/>
            <a:ext cx="100584" cy="0"/>
          </a:xfrm>
          <a:prstGeom prst="line">
            <a:avLst/>
          </a:prstGeom>
          <a:noFill/>
          <a:ln w="31750">
            <a:solidFill>
              <a:srgbClr val="5FC9B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27064" y="2286000"/>
            <a:ext cx="1783080" cy="2468880"/>
          </a:xfrm>
          <a:prstGeom prst="roundRect">
            <a:avLst>
              <a:gd name="adj" fmla="val 4615"/>
            </a:avLst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6852" y="25420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816852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0216" y="331012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18504" y="3767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humana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14716" y="3520440"/>
            <a:ext cx="100584" cy="0"/>
          </a:xfrm>
          <a:prstGeom prst="line">
            <a:avLst/>
          </a:prstGeom>
          <a:noFill/>
          <a:ln w="31750">
            <a:solidFill>
              <a:srgbClr val="5FC9B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19872" y="2286000"/>
            <a:ext cx="1783080" cy="2468880"/>
          </a:xfrm>
          <a:prstGeom prst="roundRect">
            <a:avLst>
              <a:gd name="adj" fmla="val 4615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09660" y="25420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8709660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193024" y="331012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Devengado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11312" y="3767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Conciliación de 3 vías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907524" y="3520440"/>
            <a:ext cx="100584" cy="0"/>
          </a:xfrm>
          <a:prstGeom prst="line">
            <a:avLst/>
          </a:prstGeom>
          <a:noFill/>
          <a:ln w="31750">
            <a:solidFill>
              <a:srgbClr val="5FC9B7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12680" y="2286000"/>
            <a:ext cx="1783080" cy="2468880"/>
          </a:xfrm>
          <a:prstGeom prst="roundRect">
            <a:avLst>
              <a:gd name="adj" fmla="val 4615"/>
            </a:avLst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02468" y="2542032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602468" y="25420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085832" y="3310128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104120" y="3767328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humana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etapas resaltadas (Adjudicación y Pago) exigen confirmación humana explícita.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Recaudación con mínima mora y evasión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“cumplimiento desde el diseño”: que cumplir sea el camino más fácil.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207660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0195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Parametrización sin código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Tasas, alícuotas, vencimientos e intereses configurables, con simulación de impacto previa.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74520"/>
            <a:ext cx="777240" cy="777240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07660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0195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Cobranza preventiva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2697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 antes del vencimiento, pago de un toque y planes automáticos.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2336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42" y="42254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507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deudores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4846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Intimaciones graduales según historial y segmentación por riesgo de recupero.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023360"/>
            <a:ext cx="777240" cy="777240"/>
          </a:xfrm>
          <a:prstGeom prst="ellipse">
            <a:avLst/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22544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5079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evasión con IA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92240" y="48463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Cruces de datos y geocodificación; alertas explicables con revisión humana.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Transparencia, compliance y anticorrupción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64592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abiertos por diseño.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publicado en estándar tipo OCDS, salvo excepciones justificadas.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87752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496312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Banderas rojas automatizadas.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riesgo (proveedor único, fraccionamiento, plazos anómalos).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38144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346704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completa.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acción con autor, fecha, justificación y respaldo.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28853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80160" y="4197096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funciones.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solicita, adjudica y paga a la vez.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80160" y="5047488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humano de lo irreversible. 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Adjudicar, pagar o condonar siempre requiere confirmación.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7498080" y="1371600"/>
            <a:ext cx="4114800" cy="4572000"/>
          </a:xfrm>
          <a:prstGeom prst="roundRect">
            <a:avLst>
              <a:gd name="adj" fmla="val 2667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7818120" y="1691640"/>
            <a:ext cx="777240" cy="777240"/>
          </a:xfrm>
          <a:prstGeom prst="ellipse">
            <a:avLst/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0202" y="1893722"/>
            <a:ext cx="373075" cy="3730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818120" y="260604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dinámicos y seguros</a:t>
            </a:r>
            <a:endParaRPr lang="en-US" sz="1700" dirty="0"/>
          </a:p>
        </p:txBody>
      </p:sp>
      <p:sp>
        <p:nvSpPr>
          <p:cNvPr id="18" name="Text 10"/>
          <p:cNvSpPr/>
          <p:nvPr/>
        </p:nvSpPr>
        <p:spPr>
          <a:xfrm>
            <a:off x="7863840" y="324612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Tableros en tiempo real, filtrables y exportables.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al teléfono con autenticación fuerte y cifrado.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Informes conversacionales: pedir un dato por voz y recibir el gráfico.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Respaldado por la práctica internacional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7373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+70%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administraciones tributarias ya usan IA, sobre todo para detectar evasión y fraude.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OCDE, Tax Administration 2024/2025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0E2A4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373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663440" y="2971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evidencia: los GFMIS mejoran transparencia y rendición de cuentas.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63440" y="4069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FMI – PFM Blog, 2019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4F6F7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17373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8503920" y="297180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“banderas rojas” de corrupción mapeados al estándar OCDS.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03920" y="4069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Contracting Partnership, 2024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Marcos de referencia: Principios de IA de la OCDE (act. 2024) · G7 Toolkit for AI in the Public Sector · UNESCO Ethics of AI · Open Contracting Data Standard (OCDS).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 hacia el MVP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Acotar a una vía del gasto y una tasa de recaudación, demostrar valor rápido y escalar.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291840"/>
            <a:ext cx="1517904" cy="36576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291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sem.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procesos, permisos y datos.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16352" y="192024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80944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80944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gasto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80944" y="3291840"/>
            <a:ext cx="1517904" cy="365760"/>
          </a:xfrm>
          <a:prstGeom prst="roundRect">
            <a:avLst>
              <a:gd name="adj" fmla="val 15000"/>
            </a:avLst>
          </a:prstGeom>
          <a:solidFill>
            <a:srgbClr val="0B6160"/>
          </a:solidFill>
          <a:ln/>
        </p:spPr>
      </p:sp>
      <p:sp>
        <p:nvSpPr>
          <p:cNvPr id="14" name="Text 12"/>
          <p:cNvSpPr/>
          <p:nvPr/>
        </p:nvSpPr>
        <p:spPr>
          <a:xfrm>
            <a:off x="2980944" y="3291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sem.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9232" y="37947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Solicitud → cotización → adjudicación → devengado por voz.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84064" y="192024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48656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48656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recaudación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48656" y="3291840"/>
            <a:ext cx="1517904" cy="365760"/>
          </a:xfrm>
          <a:prstGeom prst="roundRect">
            <a:avLst>
              <a:gd name="adj" fmla="val 15000"/>
            </a:avLst>
          </a:prstGeom>
          <a:solidFill>
            <a:srgbClr val="0B6160"/>
          </a:solidFill>
          <a:ln/>
        </p:spPr>
      </p:sp>
      <p:sp>
        <p:nvSpPr>
          <p:cNvPr id="20" name="Text 18"/>
          <p:cNvSpPr/>
          <p:nvPr/>
        </p:nvSpPr>
        <p:spPr>
          <a:xfrm>
            <a:off x="5248656" y="3291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sem.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66944" y="37947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tasa, pago ciudadano, planes e intimaciones.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51776" y="192024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16368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16368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6368" y="3291840"/>
            <a:ext cx="1517904" cy="36576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/>
        </p:spPr>
      </p:sp>
      <p:sp>
        <p:nvSpPr>
          <p:cNvPr id="26" name="Text 24"/>
          <p:cNvSpPr/>
          <p:nvPr/>
        </p:nvSpPr>
        <p:spPr>
          <a:xfrm>
            <a:off x="7516368" y="3291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34656" y="37947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abiertos y tablero de banderas rojas.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619488" y="1920240"/>
            <a:ext cx="2157984" cy="329184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8408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84080" y="25146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784080" y="3291840"/>
            <a:ext cx="1517904" cy="36576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32918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02368" y="3794760"/>
            <a:ext cx="1792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rubros, subastas, federación, analítica.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Financiera Gubernamental con IA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E7C7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mediremos el éxito del MVP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92024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49808" y="2788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generar una nota de pedido por voz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47288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7016" y="192024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48456" y="2788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expedientes con respaldo documental completo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45936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92024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ciclo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47104" y="2788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del tiempo solicitud-a-pago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44584" y="1554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395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54312" y="192024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C9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mora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445752" y="2788920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tasa piloto y adhesión a planes de pago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1554480"/>
          </a:xfrm>
          <a:prstGeom prst="roundRect">
            <a:avLst>
              <a:gd name="adj" fmla="val 7059"/>
            </a:avLst>
          </a:prstGeom>
          <a:solidFill>
            <a:srgbClr val="0E7C7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43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Empezar simple, demostrar valor, escalar con transparencia.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983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8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tecnología no arregla un mal proceso: rediseñar antes de automatizar, con control humano de las decisiones que importan.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de trabajo · No constituye asesoramiento legal ni financiero · Junio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921</Words>
  <Application>Microsoft Office PowerPoint</Application>
  <PresentationFormat>Panorámica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Administración Financiera Gubernamental conducido por IA</dc:title>
  <dc:subject>PptxGenJS Presentation</dc:subject>
  <dc:creator>Diseño Sistema AdmFin IA</dc:creator>
  <cp:lastModifiedBy>Aldo Marino Elettore</cp:lastModifiedBy>
  <cp:revision>1</cp:revision>
  <dcterms:created xsi:type="dcterms:W3CDTF">2026-06-13T15:44:51Z</dcterms:created>
  <dcterms:modified xsi:type="dcterms:W3CDTF">2026-06-13T15:56:02Z</dcterms:modified>
</cp:coreProperties>
</file>